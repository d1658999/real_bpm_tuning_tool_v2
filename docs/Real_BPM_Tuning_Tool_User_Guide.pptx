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603504"/>
            <a:ext cx="1325880" cy="31089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17220"/>
            <a:ext cx="13258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USER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70432"/>
            <a:ext cx="5577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Real BPM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5577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Tuning 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5292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0">
                <a:solidFill>
                  <a:srgbClr val="D6E6F5"/>
                </a:solidFill>
                <a:latin typeface="Aptos"/>
              </a:rPr>
              <a:t>Configure multiport Touchstone networks, evaluate RF performance, and select measured BOM parts with production-aware 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57800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FC7E8"/>
                </a:solidFill>
                <a:latin typeface="Aptos"/>
              </a:rPr>
              <a:t>Python / PyQt interface  •  Rust exhaustive sweep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603504"/>
            <a:ext cx="5577840" cy="54681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m_tuner_cascad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23313"/>
            <a:ext cx="5266944" cy="30284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6520" y="6153912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B8CADB"/>
                </a:solidFill>
                <a:latin typeface="Aptos"/>
              </a:rPr>
              <a:t>Example cascade view using a non-confidential demo 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The six-step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Use Cascade to validate the configured circuit before committing time to Optimization.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66544" y="2907792"/>
            <a:ext cx="502920" cy="4114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65960"/>
            <a:ext cx="14173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06424" y="2221992"/>
            <a:ext cx="393192" cy="39319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223820"/>
            <a:ext cx="393192" cy="3895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16352"/>
            <a:ext cx="1197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ptos"/>
              </a:rPr>
              <a:t>Add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209544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6E6E73"/>
                </a:solidFill>
                <a:latin typeface="Aptos"/>
              </a:rPr>
              <a:t>Touchstone 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86784" y="2907792"/>
            <a:ext cx="502920" cy="4114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14600" y="1965960"/>
            <a:ext cx="14173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26664" y="2221992"/>
            <a:ext cx="393192" cy="39319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2223820"/>
            <a:ext cx="393192" cy="3895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2816352"/>
            <a:ext cx="1197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ptos"/>
              </a:rPr>
              <a:t>Configure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42616" y="3209544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6E6E73"/>
                </a:solidFill>
                <a:latin typeface="Aptos"/>
              </a:rPr>
              <a:t>every active 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7024" y="2907792"/>
            <a:ext cx="502920" cy="4114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34840" y="1965960"/>
            <a:ext cx="14173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46904" y="2221992"/>
            <a:ext cx="393192" cy="39319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2223820"/>
            <a:ext cx="393192" cy="3895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2816352"/>
            <a:ext cx="1197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ptos"/>
              </a:rPr>
              <a:t>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5" y="3209544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6E6E73"/>
                </a:solidFill>
                <a:latin typeface="Aptos"/>
              </a:rPr>
              <a:t>bands and targets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27264" y="2907792"/>
            <a:ext cx="502920" cy="4114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1965960"/>
            <a:ext cx="14173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67144" y="2221992"/>
            <a:ext cx="393192" cy="39319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67144" y="2223820"/>
            <a:ext cx="393192" cy="3895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816352"/>
            <a:ext cx="1197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ptos"/>
              </a:rPr>
              <a:t>Cascade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209544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6E6E73"/>
                </a:solidFill>
                <a:latin typeface="Aptos"/>
              </a:rPr>
              <a:t>check the circuit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47504" y="2907792"/>
            <a:ext cx="502920" cy="41148"/>
          </a:xfrm>
          <a:prstGeom prst="rect">
            <a:avLst/>
          </a:prstGeom>
          <a:solidFill>
            <a:srgbClr val="D2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75320" y="1965960"/>
            <a:ext cx="14173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87384" y="2221992"/>
            <a:ext cx="393192" cy="39319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7384" y="2223820"/>
            <a:ext cx="393192" cy="3895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2816352"/>
            <a:ext cx="1197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ptos"/>
              </a:rPr>
              <a:t>Optimize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3209544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6E6E73"/>
                </a:solidFill>
                <a:latin typeface="Aptos"/>
              </a:rPr>
              <a:t>compare five strategies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95560" y="1965960"/>
            <a:ext cx="14173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07624" y="2221992"/>
            <a:ext cx="393192" cy="393192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07624" y="2223820"/>
            <a:ext cx="393192" cy="38953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05288" y="2816352"/>
            <a:ext cx="1197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D1D1F"/>
                </a:solidFill>
                <a:latin typeface="Aptos"/>
              </a:rPr>
              <a:t>Export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23576" y="3209544"/>
            <a:ext cx="116128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0">
                <a:solidFill>
                  <a:srgbClr val="6E6E73"/>
                </a:solidFill>
                <a:latin typeface="Aptos"/>
              </a:rPr>
              <a:t>config, SNP, CSV, plots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7552" y="4709160"/>
            <a:ext cx="10222992" cy="80467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C9D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34440" y="4965192"/>
            <a:ext cx="9784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66CC"/>
                </a:solidFill>
                <a:latin typeface="Aptos"/>
              </a:rPr>
              <a:t>Fast feedback: </a:t>
            </a:r>
            <a:r>
              <a:rPr sz="1400" b="0">
                <a:solidFill>
                  <a:srgbClr val="1D1D1F"/>
                </a:solidFill>
                <a:latin typeface="Aptos"/>
              </a:rPr>
              <a:t>Run Cascade after any connection, frequency, or component change. Export buttons become available only after a successful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Launch the tool and keep its measured BOM beside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The Windows EXE needs no Python or Rust installation on the target PC.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89888"/>
            <a:ext cx="5440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64208"/>
            <a:ext cx="1737360" cy="31089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7924"/>
            <a:ext cx="1737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DEPLOYED EXE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12848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1D1F"/>
                </a:solidFill>
                <a:latin typeface="Aptos"/>
              </a:rPr>
              <a:t>Double-click BPMTuningTool.exe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88920"/>
            <a:ext cx="43891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B1F33"/>
                </a:solidFill>
                <a:latin typeface="Consolas"/>
              </a:rPr>
              <a:t>dist\</a:t>
            </a:r>
            <a:br/>
            <a:r>
              <a:t>  BPMTuningTool.exe</a:t>
            </a:r>
            <a:br/>
            <a:r>
              <a:t>  Capacitors_BOM\</a:t>
            </a:r>
            <a:br/>
            <a:r>
              <a:t>  Inductors_BOM\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590288"/>
            <a:ext cx="4617720" cy="676656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5D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773168"/>
            <a:ext cx="4251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D97706"/>
                </a:solidFill>
                <a:latin typeface="Aptos"/>
              </a:rPr>
              <a:t>Keep both BOM folder names unchanged and move all three items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389888"/>
            <a:ext cx="5404104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10528" y="1664208"/>
            <a:ext cx="1554480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677924"/>
            <a:ext cx="15544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DEVELOPER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212848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1D1F"/>
                </a:solidFill>
                <a:latin typeface="Aptos"/>
              </a:rPr>
              <a:t>Launch from PowerShell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761488"/>
            <a:ext cx="4572000" cy="594360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2944368"/>
            <a:ext cx="4160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onsolas"/>
              </a:rPr>
              <a:t>bpm-tuner --gui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730752"/>
            <a:ext cx="45720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0066CC"/>
                </a:solidFill>
                <a:latin typeface="Aptos"/>
              </a:rPr>
              <a:t>●  </a:t>
            </a:r>
            <a:r>
              <a:rPr sz="1450">
                <a:solidFill>
                  <a:srgbClr val="1D1D1F"/>
                </a:solidFill>
                <a:latin typeface="Aptos"/>
              </a:rPr>
              <a:t>Start in the project root.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0066CC"/>
                </a:solidFill>
                <a:latin typeface="Aptos"/>
              </a:rPr>
              <a:t>●  </a:t>
            </a:r>
            <a:r>
              <a:rPr sz="1450">
                <a:solidFill>
                  <a:srgbClr val="1D1D1F"/>
                </a:solidFill>
                <a:latin typeface="Aptos"/>
              </a:rPr>
              <a:t>For a first optimization, set BOM samples/type to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065776"/>
            <a:ext cx="4526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E6E73"/>
                </a:solidFill>
                <a:latin typeface="Aptos"/>
              </a:rPr>
              <a:t>Build the deployable EXE with .\build_one_exe.bat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Interface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Work left to right: source files → port and target settings → RF plots.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261872"/>
            <a:ext cx="11356848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_tuner_configu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402" y="1389888"/>
            <a:ext cx="6647290" cy="3822191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86384" y="1938528"/>
            <a:ext cx="329184" cy="329184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940356"/>
            <a:ext cx="329184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Oval 10"/>
          <p:cNvSpPr/>
          <p:nvPr/>
        </p:nvSpPr>
        <p:spPr>
          <a:xfrm>
            <a:off x="2953512" y="1938528"/>
            <a:ext cx="329184" cy="329184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1940356"/>
            <a:ext cx="329184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0" y="1938528"/>
            <a:ext cx="329184" cy="329184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940356"/>
            <a:ext cx="329184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Oval 14"/>
          <p:cNvSpPr/>
          <p:nvPr/>
        </p:nvSpPr>
        <p:spPr>
          <a:xfrm>
            <a:off x="1325880" y="1490472"/>
            <a:ext cx="329184" cy="329184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1492300"/>
            <a:ext cx="329184" cy="3255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94960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66CC"/>
                </a:solidFill>
                <a:latin typeface="Aptos"/>
              </a:rPr>
              <a:t>1  </a:t>
            </a:r>
            <a:r>
              <a:rPr sz="1150" b="1">
                <a:solidFill>
                  <a:srgbClr val="1D1D1F"/>
                </a:solidFill>
                <a:latin typeface="Aptos"/>
              </a:rPr>
              <a:t>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641848"/>
            <a:ext cx="2322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Aptos"/>
              </a:rPr>
              <a:t>Add or remove .sNp networks.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5394960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66CC"/>
                </a:solidFill>
                <a:latin typeface="Aptos"/>
              </a:rPr>
              <a:t>2  </a:t>
            </a:r>
            <a:r>
              <a:rPr sz="1150" b="1">
                <a:solidFill>
                  <a:srgbClr val="1D1D1F"/>
                </a:solidFill>
                <a:latin typeface="Aptos"/>
              </a:rPr>
              <a:t>Configuration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94176" y="5641848"/>
            <a:ext cx="2322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Aptos"/>
              </a:rPr>
              <a:t>Assign modes, signals, bands, targets, and ranges.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2784" y="5394960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66CC"/>
                </a:solidFill>
                <a:latin typeface="Aptos"/>
              </a:rPr>
              <a:t>3  </a:t>
            </a:r>
            <a:r>
              <a:rPr sz="1150" b="1">
                <a:solidFill>
                  <a:srgbClr val="1D1D1F"/>
                </a:solidFill>
                <a:latin typeface="Aptos"/>
              </a:rPr>
              <a:t>Plots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5641848"/>
            <a:ext cx="2322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Aptos"/>
              </a:rPr>
              <a:t>Smith, S21, VSWR, and return loss.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5394960"/>
            <a:ext cx="25420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0066CC"/>
                </a:solidFill>
                <a:latin typeface="Aptos"/>
              </a:rPr>
              <a:t>4  </a:t>
            </a:r>
            <a:r>
              <a:rPr sz="1150" b="1">
                <a:solidFill>
                  <a:srgbClr val="1D1D1F"/>
                </a:solidFill>
                <a:latin typeface="Aptos"/>
              </a:rPr>
              <a:t>Toolbar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5641848"/>
            <a:ext cx="232257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0">
                <a:solidFill>
                  <a:srgbClr val="6E6E73"/>
                </a:solidFill>
                <a:latin typeface="Aptos"/>
              </a:rPr>
              <a:t>Run, save/load, and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Configure every active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The selected Mode controls what appears in the Port configuration column.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5358384" cy="896112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17904"/>
            <a:ext cx="22311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66CC"/>
                </a:solidFill>
                <a:latin typeface="Aptos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517904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D1D1F"/>
                </a:solidFill>
                <a:latin typeface="Aptos"/>
              </a:rPr>
              <a:t>External driven/dependent 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53312"/>
            <a:ext cx="5358384" cy="896112"/>
          </a:xfrm>
          <a:prstGeom prst="roundRect">
            <a:avLst/>
          </a:prstGeom>
          <a:solidFill>
            <a:srgbClr val="F0F0F2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517904"/>
            <a:ext cx="22311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D1D1F"/>
                </a:solidFill>
                <a:latin typeface="Aptos"/>
              </a:rP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1517904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D1D1F"/>
                </a:solidFill>
                <a:latin typeface="Aptos"/>
              </a:rPr>
              <a:t>Reciprocal link to another file/port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468880"/>
            <a:ext cx="5358384" cy="896112"/>
          </a:xfrm>
          <a:prstGeom prst="roundRect">
            <a:avLst/>
          </a:prstGeom>
          <a:solidFill>
            <a:srgbClr val="F0F0F2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633472"/>
            <a:ext cx="22311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E6E73"/>
                </a:solidFill>
                <a:latin typeface="Aptos"/>
              </a:rPr>
              <a:t>open / short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263347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D1D1F"/>
                </a:solidFill>
                <a:latin typeface="Aptos"/>
              </a:rPr>
              <a:t>Unused port or 0 Ω termination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468880"/>
            <a:ext cx="5358384" cy="896112"/>
          </a:xfrm>
          <a:prstGeom prst="roundRect">
            <a:avLst/>
          </a:prstGeom>
          <a:solidFill>
            <a:srgbClr val="EAF7ED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33472"/>
            <a:ext cx="22311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48A3D"/>
                </a:solidFill>
                <a:latin typeface="Aptos"/>
              </a:rPr>
              <a:t>inductor / capacitor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633472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D1D1F"/>
                </a:solidFill>
                <a:latin typeface="Aptos"/>
              </a:rPr>
              <a:t>Measured part or optimized range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84448"/>
            <a:ext cx="5358384" cy="896112"/>
          </a:xfrm>
          <a:prstGeom prst="roundRect">
            <a:avLst/>
          </a:prstGeom>
          <a:solidFill>
            <a:srgbClr val="EAF7ED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749039"/>
            <a:ext cx="22311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248A3D"/>
                </a:solidFill>
                <a:latin typeface="Aptos"/>
              </a:rPr>
              <a:t>inductor/capacitor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374903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D1D1F"/>
                </a:solidFill>
                <a:latin typeface="Aptos"/>
              </a:rPr>
              <a:t>Search both measured catalogs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584448"/>
            <a:ext cx="5358384" cy="896112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749039"/>
            <a:ext cx="22311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D97706"/>
                </a:solidFill>
                <a:latin typeface="Aptos"/>
              </a:rPr>
              <a:t>open/inductor/capacitor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374903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D1D1F"/>
                </a:solidFill>
                <a:latin typeface="Aptos"/>
              </a:rPr>
              <a:t>True open baseline + both catalogs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28032"/>
            <a:ext cx="11009376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84064"/>
            <a:ext cx="187451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D70015"/>
                </a:solidFill>
                <a:latin typeface="Aptos"/>
              </a:rPr>
              <a:t>Preflight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974336"/>
            <a:ext cx="8540496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D1D1F"/>
                </a:solidFill>
                <a:latin typeface="Aptos"/>
              </a:rPr>
              <a:t>Connections must be reciprocal.  •  Signals must be unique and consecutive from s1; use 2–4 total.  •  The highest-numbered signal is the dependent antenna/common port.  •  A file not used yet may remain loaded only when all of its ports are open.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Set frequency bands and optional Smith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Only driven signals appear in the compact target table; the dependent final signal is intentionally hidden.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1101852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581912"/>
            <a:ext cx="822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Aptos"/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822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D1D1F"/>
                </a:solidFill>
                <a:latin typeface="Aptos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5064" y="158191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Aptos"/>
              </a:rPr>
              <a:t>Start GHz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5064" y="1947672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D1D1F"/>
                </a:solidFill>
                <a:latin typeface="Aptos"/>
              </a:rPr>
              <a:t>3.3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5264" y="158191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Aptos"/>
              </a:rPr>
              <a:t>Stop GHz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5264" y="1947672"/>
            <a:ext cx="1600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D1D1F"/>
                </a:solidFill>
                <a:latin typeface="Aptos"/>
              </a:rPr>
              <a:t>5.0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158191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Aptos"/>
              </a:rP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1947672"/>
            <a:ext cx="1645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D1D1F"/>
                </a:solidFill>
                <a:latin typeface="Aptos"/>
              </a:rPr>
              <a:t>☑ Enable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158191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Aptos"/>
              </a:rPr>
              <a:t>Target R 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47672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D1D1F"/>
                </a:solidFill>
                <a:latin typeface="Aptos"/>
              </a:rPr>
              <a:t>50.0000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1581912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6E73"/>
                </a:solidFill>
                <a:latin typeface="Aptos"/>
              </a:rPr>
              <a:t>Target X 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1947672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D1D1F"/>
                </a:solidFill>
                <a:latin typeface="Aptos"/>
              </a:rPr>
              <a:t>0.0000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44368"/>
            <a:ext cx="5340096" cy="2423160"/>
          </a:xfrm>
          <a:prstGeom prst="roundRect">
            <a:avLst/>
          </a:prstGeom>
          <a:solidFill>
            <a:srgbClr val="EAF3FC"/>
          </a:solidFill>
          <a:ln w="12700">
            <a:solidFill>
              <a:srgbClr val="C9D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3246120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066CC"/>
                </a:solidFill>
                <a:latin typeface="Aptos"/>
              </a:rPr>
              <a:t>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730752"/>
            <a:ext cx="455371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0066CC"/>
                </a:solidFill>
                <a:latin typeface="Aptos"/>
              </a:rPr>
              <a:t>●  </a:t>
            </a:r>
            <a:r>
              <a:rPr sz="1450">
                <a:solidFill>
                  <a:srgbClr val="1D1D1F"/>
                </a:solidFill>
                <a:latin typeface="Aptos"/>
              </a:rPr>
              <a:t>Auto uses the full Touchstone overlap.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0066CC"/>
                </a:solidFill>
                <a:latin typeface="Aptos"/>
              </a:rPr>
              <a:t>●  </a:t>
            </a:r>
            <a:r>
              <a:rPr sz="1450">
                <a:solidFill>
                  <a:srgbClr val="1D1D1F"/>
                </a:solidFill>
                <a:latin typeface="Aptos"/>
              </a:rPr>
              <a:t>Enter both limits or leave both Auto.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0066CC"/>
                </a:solidFill>
                <a:latin typeface="Aptos"/>
              </a:rPr>
              <a:t>●  </a:t>
            </a:r>
            <a:r>
              <a:rPr sz="1450">
                <a:solidFill>
                  <a:srgbClr val="1D1D1F"/>
                </a:solidFill>
                <a:latin typeface="Aptos"/>
              </a:rPr>
              <a:t>Start must be lower than Stop.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2944368"/>
            <a:ext cx="5349240" cy="2423160"/>
          </a:xfrm>
          <a:prstGeom prst="roundRect">
            <a:avLst/>
          </a:prstGeom>
          <a:solidFill>
            <a:srgbClr val="EAF7ED"/>
          </a:solidFill>
          <a:ln w="12700">
            <a:solidFill>
              <a:srgbClr val="C6E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246120"/>
            <a:ext cx="44805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48A3D"/>
                </a:solidFill>
                <a:latin typeface="Aptos"/>
              </a:rPr>
              <a:t>Smith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730752"/>
            <a:ext cx="455371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248A3D"/>
                </a:solidFill>
                <a:latin typeface="Aptos"/>
              </a:rPr>
              <a:t>●  </a:t>
            </a:r>
            <a:r>
              <a:rPr sz="1450">
                <a:solidFill>
                  <a:srgbClr val="1D1D1F"/>
                </a:solidFill>
                <a:latin typeface="Aptos"/>
              </a:rPr>
              <a:t>Disabled by default.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248A3D"/>
                </a:solidFill>
                <a:latin typeface="Aptos"/>
              </a:rPr>
              <a:t>●  </a:t>
            </a:r>
            <a:r>
              <a:rPr sz="1450">
                <a:solidFill>
                  <a:srgbClr val="1D1D1F"/>
                </a:solidFill>
                <a:latin typeface="Aptos"/>
              </a:rPr>
              <a:t>Enter physical R + jX in ohms.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248A3D"/>
                </a:solidFill>
                <a:latin typeface="Aptos"/>
              </a:rPr>
              <a:t>●  </a:t>
            </a:r>
            <a:r>
              <a:rPr sz="1450">
                <a:solidFill>
                  <a:srgbClr val="1D1D1F"/>
                </a:solidFill>
                <a:latin typeface="Aptos"/>
              </a:rPr>
              <a:t>50 + j0 Ω is the 50 Ω Smith-chart center.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724144"/>
            <a:ext cx="1078992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6E6E73"/>
                </a:solidFill>
                <a:latin typeface="Aptos"/>
              </a:rPr>
              <a:t>Tip: set different bands and targets for s1, s2, and s3 when they are driven ports; never assign an independent target to the dependent final signal.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Control BOM coverage without exploding the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BOM samples/type is global; each tunable port may have its own inclusive L and C range.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71600"/>
            <a:ext cx="5303520" cy="4544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64208"/>
            <a:ext cx="4480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D1D1F"/>
                </a:solidFill>
                <a:latin typeface="Aptos"/>
              </a:rPr>
              <a:t>Choices per tunable 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D1D1F"/>
                </a:solidFill>
                <a:latin typeface="Aptos"/>
              </a:rPr>
              <a:t>inductor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2286000"/>
            <a:ext cx="841248" cy="31089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2299716"/>
            <a:ext cx="841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92608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D1D1F"/>
                </a:solidFill>
                <a:latin typeface="Aptos"/>
              </a:rPr>
              <a:t>capacitor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2889504"/>
            <a:ext cx="841248" cy="31089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903220"/>
            <a:ext cx="841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52958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D1D1F"/>
                </a:solidFill>
                <a:latin typeface="Aptos"/>
              </a:rPr>
              <a:t>inductor/capacitor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16552" y="3493008"/>
            <a:ext cx="841248" cy="31089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3506724"/>
            <a:ext cx="841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2N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133087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1D1D1F"/>
                </a:solidFill>
                <a:latin typeface="Aptos"/>
              </a:rPr>
              <a:t>open/inductor/capacitor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4096511"/>
            <a:ext cx="841248" cy="31089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4110227"/>
            <a:ext cx="841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2N + 1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956048"/>
            <a:ext cx="4498848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B1F33"/>
                </a:solidFill>
                <a:latin typeface="Aptos"/>
              </a:rPr>
              <a:t>Total combinations = product of the choices at every tunable 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371600"/>
            <a:ext cx="5385816" cy="454456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167335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Safe first run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2304288"/>
            <a:ext cx="4526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5AC8FA"/>
                </a:solidFill>
                <a:latin typeface="Aptos"/>
              </a:rPr>
              <a:t>Set BOM samples/type to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916936"/>
            <a:ext cx="449884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D6E6F5"/>
                </a:solidFill>
                <a:latin typeface="Aptos"/>
              </a:rPr>
              <a:t>Example: three flexible open/L/C 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502152"/>
            <a:ext cx="45262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onsolas"/>
              </a:rPr>
              <a:t>(2×2 + 1)³ = 5³ = 125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334256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>
                <a:solidFill>
                  <a:srgbClr val="D6E6F5"/>
                </a:solidFill>
                <a:latin typeface="Aptos"/>
              </a:rPr>
              <a:t>Increase N only after the topology and bands are correct. The GUI warns above 100,000,000 combinations or an estimated 10-minute native sweep.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Run Cascade first, then read all four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A successful cascade enables SNP and insertion-loss CSV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" y="1243584"/>
            <a:ext cx="8302752" cy="5102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pm_tuner_cascade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434236"/>
            <a:ext cx="8083296" cy="464789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8951976" y="1417320"/>
            <a:ext cx="310896" cy="310896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1976" y="1419148"/>
            <a:ext cx="310896" cy="3072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90888" y="1408176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066CC"/>
                </a:solidFill>
                <a:latin typeface="Aptos"/>
              </a:rPr>
              <a:t>Smith chart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90888" y="1728216"/>
            <a:ext cx="22311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Aptos"/>
              </a:rPr>
              <a:t>S11/S22 location, contour, and target proximity</a:t>
            </a:r>
          </a:p>
        </p:txBody>
      </p:sp>
      <p:sp>
        <p:nvSpPr>
          <p:cNvPr id="13" name="Oval 12"/>
          <p:cNvSpPr/>
          <p:nvPr/>
        </p:nvSpPr>
        <p:spPr>
          <a:xfrm>
            <a:off x="8951976" y="2496312"/>
            <a:ext cx="310896" cy="310896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976" y="2498140"/>
            <a:ext cx="310896" cy="3072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0888" y="2487168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066CC"/>
                </a:solidFill>
                <a:latin typeface="Aptos"/>
              </a:rPr>
              <a:t>S21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2807208"/>
            <a:ext cx="22311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Aptos"/>
              </a:rPr>
              <a:t>Insertion loss versus frequency</a:t>
            </a:r>
          </a:p>
        </p:txBody>
      </p:sp>
      <p:sp>
        <p:nvSpPr>
          <p:cNvPr id="17" name="Oval 16"/>
          <p:cNvSpPr/>
          <p:nvPr/>
        </p:nvSpPr>
        <p:spPr>
          <a:xfrm>
            <a:off x="8951976" y="3575304"/>
            <a:ext cx="310896" cy="310896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1976" y="3577132"/>
            <a:ext cx="310896" cy="3072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0888" y="3566160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066CC"/>
                </a:solidFill>
                <a:latin typeface="Aptos"/>
              </a:rPr>
              <a:t>VSWR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3886200"/>
            <a:ext cx="22311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Aptos"/>
              </a:rPr>
              <a:t>Mismatch severity; lower is better</a:t>
            </a:r>
          </a:p>
        </p:txBody>
      </p:sp>
      <p:sp>
        <p:nvSpPr>
          <p:cNvPr id="21" name="Oval 20"/>
          <p:cNvSpPr/>
          <p:nvPr/>
        </p:nvSpPr>
        <p:spPr>
          <a:xfrm>
            <a:off x="8951976" y="4654296"/>
            <a:ext cx="310896" cy="310896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1976" y="4656124"/>
            <a:ext cx="310896" cy="3072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4645152"/>
            <a:ext cx="2267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0066CC"/>
                </a:solidFill>
                <a:latin typeface="Aptos"/>
              </a:rPr>
              <a:t>Return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0888" y="4965192"/>
            <a:ext cx="22311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E6E73"/>
                </a:solidFill>
                <a:latin typeface="Aptos"/>
              </a:rPr>
              <a:t>Reflection magnitude in dB; higher is better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5797296"/>
            <a:ext cx="2496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D1D1F"/>
                </a:solidFill>
                <a:latin typeface="Aptos"/>
              </a:rPr>
              <a:t>Marker mode: click a trace to synchronize the readout across plots.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Run Optimization to compare five engineering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Rust evaluates the full sampled Cartesian sweep; every strategy selects from the same candidate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99616"/>
            <a:ext cx="2029968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2" y="1691640"/>
            <a:ext cx="365760" cy="36576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93468"/>
            <a:ext cx="365760" cy="362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49424"/>
            <a:ext cx="17007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66CC"/>
                </a:solidFill>
                <a:latin typeface="Aptos"/>
              </a:rPr>
              <a:t>minimum</a:t>
            </a:r>
            <a:br/>
            <a:r>
              <a:t>bom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926080"/>
            <a:ext cx="17007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Aptos"/>
              </a:rPr>
              <a:t>Fewer selected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1499616"/>
            <a:ext cx="2029968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7520" y="1691640"/>
            <a:ext cx="365760" cy="365760"/>
          </a:xfrm>
          <a:prstGeom prst="ellipse">
            <a:avLst/>
          </a:prstGeom>
          <a:solidFill>
            <a:srgbClr val="24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693468"/>
            <a:ext cx="365760" cy="362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249424"/>
            <a:ext cx="17007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248A3D"/>
                </a:solidFill>
                <a:latin typeface="Aptos"/>
              </a:rPr>
              <a:t>balanced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26080"/>
            <a:ext cx="17007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Aptos"/>
              </a:rPr>
              <a:t>Balanced RF and production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499616"/>
            <a:ext cx="2029968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21807" y="169164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1693468"/>
            <a:ext cx="365760" cy="362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2249424"/>
            <a:ext cx="17007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97706"/>
                </a:solidFill>
                <a:latin typeface="Aptos"/>
              </a:rPr>
              <a:t>minimum</a:t>
            </a:r>
            <a:br/>
            <a:r>
              <a:t>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2926080"/>
            <a:ext cx="17007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Aptos"/>
              </a:rPr>
              <a:t>Lowest Smith-target 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1499616"/>
            <a:ext cx="2029968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26096" y="169164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6" y="1693468"/>
            <a:ext cx="365760" cy="362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249424"/>
            <a:ext cx="17007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7C3AED"/>
                </a:solidFill>
                <a:latin typeface="Aptos"/>
              </a:rPr>
              <a:t>smith</a:t>
            </a:r>
            <a:br/>
            <a:r>
              <a:t>contour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2926080"/>
            <a:ext cx="17007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Aptos"/>
              </a:rPr>
              <a:t>Compact impedance contour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65792" y="1499616"/>
            <a:ext cx="2029968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930384" y="1691640"/>
            <a:ext cx="365760" cy="365760"/>
          </a:xfrm>
          <a:prstGeom prst="ellipse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30384" y="1693468"/>
            <a:ext cx="365760" cy="36210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2249424"/>
            <a:ext cx="170078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D70015"/>
                </a:solidFill>
                <a:latin typeface="Aptos"/>
              </a:rPr>
              <a:t>minimum</a:t>
            </a:r>
            <a:br/>
            <a:r>
              <a:t>insertion</a:t>
            </a:r>
            <a:br/>
            <a:r>
              <a:t>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2926080"/>
            <a:ext cx="170078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30" b="0">
                <a:solidFill>
                  <a:srgbClr val="6E6E73"/>
                </a:solidFill>
                <a:latin typeface="Aptos"/>
              </a:rPr>
              <a:t>Lowest worst S21 loss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950208"/>
            <a:ext cx="11027664" cy="157276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4215384"/>
            <a:ext cx="20756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While it 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2928" y="4160520"/>
            <a:ext cx="37947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5AC8FA"/>
                </a:solidFill>
                <a:latin typeface="Aptos"/>
              </a:rPr>
              <a:t>●  </a:t>
            </a:r>
            <a:r>
              <a:rPr sz="1350">
                <a:solidFill>
                  <a:srgbClr val="FFFFFF"/>
                </a:solidFill>
                <a:latin typeface="Aptos"/>
              </a:rPr>
              <a:t>Watch progress and status.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5AC8FA"/>
                </a:solidFill>
                <a:latin typeface="Aptos"/>
              </a:rPr>
              <a:t>●  </a:t>
            </a:r>
            <a:r>
              <a:rPr sz="1350">
                <a:solidFill>
                  <a:srgbClr val="FFFFFF"/>
                </a:solidFill>
                <a:latin typeface="Aptos"/>
              </a:rPr>
              <a:t>Cancel if the search is too large.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4197096"/>
            <a:ext cx="4023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D6E6F5"/>
                </a:solidFill>
                <a:latin typeface="Aptos"/>
              </a:rPr>
              <a:t>When complete, the Principal Engineer selects the lowest normalized production-risk score.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833872"/>
            <a:ext cx="103510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>
                <a:solidFill>
                  <a:srgbClr val="6E6E73"/>
                </a:solidFill>
                <a:latin typeface="Aptos"/>
              </a:rPr>
              <a:t>Each winner is re-evaluated with independent 1.00 / 0.95 / 1.05 component-value factors before risk scoring.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Review the fleet winner—and the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Example output from a repo-local optimization run; values will differ with your circuit and settings.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" y="1252728"/>
            <a:ext cx="7543800" cy="4919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nal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72" y="1380744"/>
            <a:ext cx="6736080" cy="4663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0456" y="1252728"/>
            <a:ext cx="3547872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85632" y="1554480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D1D1F"/>
                </a:solidFill>
                <a:latin typeface="Aptos"/>
              </a:rPr>
              <a:t>Check these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632" y="2029968"/>
            <a:ext cx="288950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30">
                <a:solidFill>
                  <a:srgbClr val="0066CC"/>
                </a:solidFill>
                <a:latin typeface="Aptos"/>
              </a:rPr>
              <a:t>●  </a:t>
            </a:r>
            <a:r>
              <a:rPr sz="1230">
                <a:solidFill>
                  <a:srgbClr val="1D1D1F"/>
                </a:solidFill>
                <a:latin typeface="Aptos"/>
              </a:rPr>
              <a:t>VSWR S11 / S22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0066CC"/>
                </a:solidFill>
                <a:latin typeface="Aptos"/>
              </a:rPr>
              <a:t>●  </a:t>
            </a:r>
            <a:r>
              <a:rPr sz="1230">
                <a:solidFill>
                  <a:srgbClr val="1D1D1F"/>
                </a:solidFill>
                <a:latin typeface="Aptos"/>
              </a:rPr>
              <a:t>Worst insertion loss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0066CC"/>
                </a:solidFill>
                <a:latin typeface="Aptos"/>
              </a:rPr>
              <a:t>●  </a:t>
            </a:r>
            <a:r>
              <a:rPr sz="1230">
                <a:solidFill>
                  <a:srgbClr val="1D1D1F"/>
                </a:solidFill>
                <a:latin typeface="Aptos"/>
              </a:rPr>
              <a:t>Target error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0066CC"/>
                </a:solidFill>
                <a:latin typeface="Aptos"/>
              </a:rPr>
              <a:t>●  </a:t>
            </a:r>
            <a:r>
              <a:rPr sz="1230">
                <a:solidFill>
                  <a:srgbClr val="1D1D1F"/>
                </a:solidFill>
                <a:latin typeface="Aptos"/>
              </a:rPr>
              <a:t>Component count</a:t>
            </a:r>
          </a:p>
          <a:p>
            <a:pPr>
              <a:spcAft>
                <a:spcPts val="400"/>
              </a:spcAft>
            </a:pPr>
            <a:r>
              <a:rPr sz="1030">
                <a:solidFill>
                  <a:srgbClr val="0066CC"/>
                </a:solidFill>
                <a:latin typeface="Aptos"/>
              </a:rPr>
              <a:t>●  </a:t>
            </a:r>
            <a:r>
              <a:rPr sz="1230">
                <a:solidFill>
                  <a:srgbClr val="1D1D1F"/>
                </a:solidFill>
                <a:latin typeface="Aptos"/>
              </a:rPr>
              <a:t>±5% sensitivity and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456" y="3941063"/>
            <a:ext cx="3547872" cy="2231136"/>
          </a:xfrm>
          <a:prstGeom prst="roundRect">
            <a:avLst/>
          </a:prstGeom>
          <a:solidFill>
            <a:srgbClr val="FFF4E5"/>
          </a:solidFill>
          <a:ln w="12700">
            <a:solidFill>
              <a:srgbClr val="F5D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4224528"/>
            <a:ext cx="2907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ptos"/>
              </a:rPr>
              <a:t>Production caveat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4681728"/>
            <a:ext cx="28986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D1D1F"/>
                </a:solidFill>
                <a:latin typeface="Aptos"/>
              </a:rPr>
              <a:t>The ±5% study is an electrical sensitivity proxy—not measured yield, vendor tolerance, or process capability. Validate PCB, fixture, temperature, bias, and production variation before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Save, share, and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Save the project configuration separately from RF results so another user can reproduce the setup.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89888"/>
            <a:ext cx="53675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609344"/>
            <a:ext cx="1069848" cy="310896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23060"/>
            <a:ext cx="1069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572768"/>
            <a:ext cx="3429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066CC"/>
                </a:solidFill>
                <a:latin typeface="Aptos"/>
              </a:rPr>
              <a:t>Save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9659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Store files, port modes, targets, and per-port L/C ranges.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89888"/>
            <a:ext cx="53675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609344"/>
            <a:ext cx="1069848" cy="310896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3060"/>
            <a:ext cx="1069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1572768"/>
            <a:ext cx="3429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B1F33"/>
                </a:solidFill>
                <a:latin typeface="Aptos"/>
              </a:rPr>
              <a:t>Load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1965960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Restore the configuration; confirm paths resolve on the new PC.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80360"/>
            <a:ext cx="53675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" y="3099815"/>
            <a:ext cx="1069848" cy="310896"/>
          </a:xfrm>
          <a:prstGeom prst="roundRect">
            <a:avLst/>
          </a:prstGeom>
          <a:solidFill>
            <a:srgbClr val="24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113532"/>
            <a:ext cx="1069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.sNp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063240"/>
            <a:ext cx="3429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48A3D"/>
                </a:solidFill>
                <a:latin typeface="Aptos"/>
              </a:rPr>
              <a:t>Export SNP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45643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Write the current cascaded or optimized Touchstone network.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880360"/>
            <a:ext cx="5367528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099815"/>
            <a:ext cx="1069848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113532"/>
            <a:ext cx="1069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ptos"/>
              </a:rPr>
              <a:t>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063240"/>
            <a:ext cx="3429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97706"/>
                </a:solidFill>
                <a:latin typeface="Aptos"/>
              </a:rPr>
              <a:t>Export IL 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54112" y="3456432"/>
            <a:ext cx="3429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Write the current insertion-loss trace for analysis or reporting.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590288"/>
            <a:ext cx="11018520" cy="1161288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855464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ptos"/>
              </a:rPr>
              <a:t>Optimization result folder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67912" y="4736592"/>
            <a:ext cx="729691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D6E6F5"/>
                </a:solidFill>
                <a:latin typeface="Consolas"/>
              </a:rPr>
              <a:t>Fleet_results_YYYYMMDD_HHMMSS  →  five agent JSON files + five PNGs + agent_comparison.png + final_decision.png + report.md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6510528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E6E73"/>
                </a:solidFill>
                <a:latin typeface="Aptos"/>
              </a:rPr>
              <a:t>Real BPM Tuning Tool  •  User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73952"/>
            <a:ext cx="60350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E6E73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D1D1F"/>
                </a:solidFill>
                <a:latin typeface="Aptos"/>
              </a:rPr>
              <a:t>Preflight checklist and common warnings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75895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6E73"/>
                </a:solidFill>
                <a:latin typeface="Aptos"/>
              </a:rPr>
              <a:t>Most failures are actionable configuration issues; fix the named file and port, then run Cascade again.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060704"/>
            <a:ext cx="566928" cy="41148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307592"/>
            <a:ext cx="53766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499616"/>
            <a:ext cx="347472" cy="347472"/>
          </a:xfrm>
          <a:prstGeom prst="ellipse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01444"/>
            <a:ext cx="347472" cy="3438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" y="1463039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D70015"/>
                </a:solidFill>
                <a:latin typeface="Aptos"/>
              </a:rPr>
              <a:t>No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1453895"/>
            <a:ext cx="24140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D1D1F"/>
                </a:solidFill>
                <a:latin typeface="Aptos"/>
              </a:rPr>
              <a:t>Add at least one valid .sNp file; two or more are typical for a cascade.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07592"/>
            <a:ext cx="53766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19088" y="1499616"/>
            <a:ext cx="347472" cy="347472"/>
          </a:xfrm>
          <a:prstGeom prst="ellipse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501444"/>
            <a:ext cx="347472" cy="3438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463039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D70015"/>
                </a:solidFill>
                <a:latin typeface="Aptos"/>
              </a:rPr>
              <a:t>Connection target missing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7" y="1453895"/>
            <a:ext cx="24140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D1D1F"/>
                </a:solidFill>
                <a:latin typeface="Aptos"/>
              </a:rPr>
              <a:t>Choose a destination and make the reverse port point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578608"/>
            <a:ext cx="53766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68096" y="2770632"/>
            <a:ext cx="347472" cy="347472"/>
          </a:xfrm>
          <a:prstGeom prst="ellipse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2772460"/>
            <a:ext cx="347472" cy="3438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1016" y="2734056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D70015"/>
                </a:solidFill>
                <a:latin typeface="Aptos"/>
              </a:rPr>
              <a:t>Signal assignment invalid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6" y="2724912"/>
            <a:ext cx="24140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D1D1F"/>
                </a:solidFill>
                <a:latin typeface="Aptos"/>
              </a:rPr>
              <a:t>Use unique, consecutive names from s1 with 2–4 total signals.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578608"/>
            <a:ext cx="53766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9088" y="2770632"/>
            <a:ext cx="347472" cy="347472"/>
          </a:xfrm>
          <a:prstGeom prst="ellipse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772460"/>
            <a:ext cx="347472" cy="3438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2734056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D70015"/>
                </a:solidFill>
                <a:latin typeface="Aptos"/>
              </a:rPr>
              <a:t>Frequency range invalid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7967" y="2724912"/>
            <a:ext cx="24140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D1D1F"/>
                </a:solidFill>
                <a:latin typeface="Aptos"/>
              </a:rPr>
              <a:t>Enter both limits, keep Start &lt; Stop, and stay inside the common data range.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49624"/>
            <a:ext cx="53766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8096" y="4041648"/>
            <a:ext cx="347472" cy="347472"/>
          </a:xfrm>
          <a:prstGeom prst="ellipse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043476"/>
            <a:ext cx="347472" cy="3438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1016" y="4005072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D70015"/>
                </a:solidFill>
                <a:latin typeface="Aptos"/>
              </a:rPr>
              <a:t>Component range invalid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6976" y="3995928"/>
            <a:ext cx="24140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D1D1F"/>
                </a:solidFill>
                <a:latin typeface="Aptos"/>
              </a:rPr>
              <a:t>Use positive Min ≤ Max and include at least one measured BOM part.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49624"/>
            <a:ext cx="53766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19088" y="4041648"/>
            <a:ext cx="347472" cy="347472"/>
          </a:xfrm>
          <a:prstGeom prst="ellipse">
            <a:avLst/>
          </a:prstGeom>
          <a:solidFill>
            <a:srgbClr val="D7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043476"/>
            <a:ext cx="347472" cy="3438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2008" y="4005072"/>
            <a:ext cx="175564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D70015"/>
                </a:solidFill>
                <a:latin typeface="Aptos"/>
              </a:rPr>
              <a:t>Search too large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7" y="3995928"/>
            <a:ext cx="24140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1D1D1F"/>
                </a:solidFill>
                <a:latin typeface="Aptos"/>
              </a:rPr>
              <a:t>Reduce BOM samples/type or reduce the number of tunable ports.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340096"/>
            <a:ext cx="11009376" cy="658368"/>
          </a:xfrm>
          <a:prstGeom prst="roundRect">
            <a:avLst/>
          </a:prstGeom>
          <a:solidFill>
            <a:srgbClr val="EAF7ED"/>
          </a:solidFill>
          <a:ln w="12700">
            <a:solidFill>
              <a:srgbClr val="C6E6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5541264"/>
            <a:ext cx="10442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248A3D"/>
                </a:solidFill>
                <a:latin typeface="Aptos"/>
              </a:rPr>
              <a:t>Ready to optimize when Cascade succeeds, the plotted band is correct, targets are intentional, and the estimated search size is acceptable.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